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6142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Each speaker says their own name. Introduce the problem: 50,000 unlabeled Bitcoin tweets, and the goal was to discover the dominant themes without reading every post.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business value: scale, signal-versus-echo, and timing. Emphasise that topic labels are created by interpretation after the model finds word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scale first, then the audit findings. Be precise about UTC. The first and last hours are partial. Mention the 66.4% retweet share and the multilingual nature of the raw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down the funnel. Explain that the shrinkage is intentional: English-only, retweet removal, duplicates, offensive content, very short texts, and near-duplicates. The purpose is to stop repeated templates from becoming “topics”.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visuals to show that the cleaned corpus contains a broad crypto vocabulary. The bigrams/trigrams add context: “twitter facebook instagram” points to social-media promotion, while “btc ethereum blockchain” shows the discussion extending beyond Bitcoin.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two matrices simply: counts for LDA and TF-IDF for NMF. Each method was run at five topic counts: 4 through 8. We used coherence, diversity and human interpretability rather than one metric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choice, then the evidence. NMF k=4 and k=5 looked strong on paper but one topic absorbed about two-thirds of tweets. NMF k=6 balanced quality and separation. On rerun, NMF had an agreement score of about 0.90 versus 0.12 for LDA.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two largest themes first. Then the smaller promotional/automation themes. Make clear these are model-derived labels, not ground truth.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“18:00 UTC” explicitly. The automated sentiment topic jumps from 3.9% to 13.4% at 18:00, then falls. Price/trading grows in relative share and peaks at 20:00. We do not claim to know why these changes happened.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 the four takeaways briskly. Stress the difference between observed model output and interpretation. The model shows the pattern; it does not establish the cause.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limitation that this is one evening and that templated/promotional wording can make topic stability look stronger. Then give the concrete next steps: real human ratings, topic_assignments.csv, full hourly output, and a longer observation window.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D59"/>
          </a:solidFill>
          <a:ln w="12700">
            <a:solidFill>
              <a:srgbClr val="143D5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6464808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EDAB2724 · Assignment 3 · Group 7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65392" y="384048"/>
            <a:ext cx="5102352" cy="5468112"/>
          </a:xfrm>
          <a:prstGeom prst="roundRect">
            <a:avLst>
              <a:gd name="adj" fmla="val 1434"/>
            </a:avLst>
          </a:prstGeom>
          <a:solidFill>
            <a:srgbClr val="FFFFFF"/>
          </a:solidFill>
          <a:ln w="12700">
            <a:solidFill>
              <a:srgbClr val="E2DED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" name="Image 0" descr="/mnt/data/ppt_assets/word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773711"/>
            <a:ext cx="4791456" cy="27070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457200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EDAB2724 · ASSIGNMENT 3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66928" y="941832"/>
            <a:ext cx="5577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73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Topic Modelling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173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Bitcoin Tweets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566928" y="2633472"/>
            <a:ext cx="5349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was the Bitcoin conversation actually about — and how did the themes move through the evening?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66928" y="3959352"/>
            <a:ext cx="1417320" cy="292608"/>
          </a:xfrm>
          <a:prstGeom prst="roundRect">
            <a:avLst>
              <a:gd name="adj" fmla="val 18750"/>
            </a:avLst>
          </a:prstGeom>
          <a:solidFill>
            <a:srgbClr val="E9F1F5"/>
          </a:solidFill>
          <a:ln w="12700">
            <a:solidFill>
              <a:srgbClr val="E9F1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640080" y="3968496"/>
            <a:ext cx="12710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6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50,000 tweets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130552" y="3959352"/>
            <a:ext cx="1042416" cy="292608"/>
          </a:xfrm>
          <a:prstGeom prst="roundRect">
            <a:avLst>
              <a:gd name="adj" fmla="val 18750"/>
            </a:avLst>
          </a:prstGeom>
          <a:solidFill>
            <a:srgbClr val="E8F4F0"/>
          </a:solidFill>
          <a:ln w="12700">
            <a:solidFill>
              <a:srgbClr val="E8F4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2203704" y="3968496"/>
            <a:ext cx="8961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themes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310128" y="3959352"/>
            <a:ext cx="1261872" cy="292608"/>
          </a:xfrm>
          <a:prstGeom prst="roundRect">
            <a:avLst>
              <a:gd name="adj" fmla="val 18750"/>
            </a:avLst>
          </a:prstGeom>
          <a:solidFill>
            <a:srgbClr val="F7E9E4"/>
          </a:solidFill>
          <a:ln w="12700">
            <a:solidFill>
              <a:srgbClr val="F7E9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3383280" y="3968496"/>
            <a:ext cx="11155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NMF · k = 6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566928" y="4709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>
                <a:solidFill>
                  <a:srgbClr val="173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66928" y="5056632"/>
            <a:ext cx="5532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Mothae Ntoi · Katleho Rathaba · Oratile Moletsane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Ashley Ashirai Hlatshwayo · Mapitso Nyapholi · Pascal Jr Bessong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406640" y="6428232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30" dirty="0">
                <a:solidFill>
                  <a:srgbClr val="7C84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Group 7 notebook</a:t>
            </a:r>
            <a:endParaRPr lang="en-US" sz="7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· BUSINESS CONTEXT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73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 for business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1225296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Topic modelling compresses a noisy social feed into a small number of interpretable themes.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1847088"/>
            <a:ext cx="3364992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731520" y="2020824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6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2487168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73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LISTEN AT SCALE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3255264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business cannot read 50,000 posts one by one.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4315968" y="1847088"/>
            <a:ext cx="3364992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480560" y="2020824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80560" y="2487168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73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SEPARATE SIGNAL FROM ECHO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480560" y="3255264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Retweets, templates and promotion can exaggerate what looks like “public opinion”.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8065008" y="1847088"/>
            <a:ext cx="3364992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8229600" y="2020824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0" y="2487168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73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THE CLOCK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229600" y="3255264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Hourly topic shares show when attention shifts — useful for monitoring and timing communications.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566928" y="4617720"/>
            <a:ext cx="11018520" cy="1051560"/>
          </a:xfrm>
          <a:prstGeom prst="roundRect">
            <a:avLst>
              <a:gd name="adj" fmla="val 6957"/>
            </a:avLst>
          </a:prstGeom>
          <a:solidFill>
            <a:srgbClr val="EEF2F4"/>
          </a:solidFill>
          <a:ln w="12700">
            <a:solidFill>
              <a:srgbClr val="D8E0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804672" y="479145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6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CORE IDEA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075688" y="472744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73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computer finds the piles. Humans decide what the piles mean.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2075688" y="5102352"/>
            <a:ext cx="8183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Topic labels are model-derived themes — not ground-truth classes.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406640" y="6428232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30" dirty="0">
                <a:solidFill>
                  <a:srgbClr val="7C84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assignment brief + Group 7 notebook</a:t>
            </a:r>
            <a:endParaRPr lang="en-US" sz="7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THE DATA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73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started with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1225296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raw feed is large, multilingual and dominated by reposting.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1810512"/>
            <a:ext cx="1965960" cy="1216152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694944" y="1911096"/>
            <a:ext cx="170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E6F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50,000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694944" y="2350008"/>
            <a:ext cx="170992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tweets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2679192" y="1810512"/>
            <a:ext cx="1965960" cy="1216152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2807208" y="1911096"/>
            <a:ext cx="170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2807208" y="2350008"/>
            <a:ext cx="170992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variables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4791456" y="1810512"/>
            <a:ext cx="1965960" cy="1216152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919472" y="1911096"/>
            <a:ext cx="170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6.5 h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4919472" y="2350008"/>
            <a:ext cx="170992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observed window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6903720" y="1810512"/>
            <a:ext cx="1965960" cy="1216152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7031736" y="1911096"/>
            <a:ext cx="170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66.4%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7031736" y="2350008"/>
            <a:ext cx="170992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retweets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9015984" y="1810512"/>
            <a:ext cx="1965960" cy="1216152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9144000" y="1911096"/>
            <a:ext cx="170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E6F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67.8%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9144000" y="2350008"/>
            <a:ext cx="170992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English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566928" y="3310128"/>
            <a:ext cx="4709160" cy="2066544"/>
          </a:xfrm>
          <a:prstGeom prst="roundRect">
            <a:avLst>
              <a:gd name="adj" fmla="val 3540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768096" y="3511296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HIGHLIGHTS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68096" y="3922776"/>
            <a:ext cx="4114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73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 missing tweet text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73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 duplicate Tweet IDs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73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Tweet timestamps: 17:33 → 00:04 UTC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73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564 missing language values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04688" y="3310128"/>
            <a:ext cx="6080760" cy="2066544"/>
          </a:xfrm>
          <a:prstGeom prst="roundRect">
            <a:avLst>
              <a:gd name="adj" fmla="val 3540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24" name="Image 0" descr="/mnt/data/ppt_assets/volu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6727" y="3557016"/>
            <a:ext cx="3678393" cy="150876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5742432" y="5120640"/>
            <a:ext cx="53949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6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Peak: 18:00 UTC · 1,155 tweets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7406640" y="6428232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30" dirty="0">
                <a:solidFill>
                  <a:srgbClr val="7C84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Notebook visual: Bitcoin Tweet Volume by Hour</a:t>
            </a:r>
            <a:endParaRPr lang="en-US" sz="73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· PREPROCESSING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73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50,000 tweets to 5,968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1225296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cleaning pipeline was deliberately aggressive because repeated or non-English content would dominate the model.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755648"/>
            <a:ext cx="8915400" cy="429768"/>
          </a:xfrm>
          <a:prstGeom prst="roundRect">
            <a:avLst>
              <a:gd name="adj" fmla="val 17021"/>
            </a:avLst>
          </a:prstGeom>
          <a:solidFill>
            <a:srgbClr val="E9F1F5"/>
          </a:solidFill>
          <a:ln w="12700">
            <a:solidFill>
              <a:srgbClr val="2E6F9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768096" y="1783080"/>
            <a:ext cx="1216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E6F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50,000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084832" y="1792224"/>
            <a:ext cx="7315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3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DATA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101852" y="2331720"/>
            <a:ext cx="8028432" cy="429768"/>
          </a:xfrm>
          <a:prstGeom prst="roundRect">
            <a:avLst>
              <a:gd name="adj" fmla="val 17021"/>
            </a:avLst>
          </a:prstGeom>
          <a:solidFill>
            <a:srgbClr val="E8F4F0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211580" y="2359152"/>
            <a:ext cx="1216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33,515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528316" y="2368296"/>
            <a:ext cx="64282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3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ENGLISH ONLY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545336" y="2907792"/>
            <a:ext cx="7141464" cy="429768"/>
          </a:xfrm>
          <a:prstGeom prst="roundRect">
            <a:avLst>
              <a:gd name="adj" fmla="val 17021"/>
            </a:avLst>
          </a:prstGeom>
          <a:solidFill>
            <a:srgbClr val="F8F0DA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1655064" y="2935224"/>
            <a:ext cx="1216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12,985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971800" y="2944368"/>
            <a:ext cx="55412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3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RETWEETS REMOVED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988820" y="3483864"/>
            <a:ext cx="6254496" cy="429768"/>
          </a:xfrm>
          <a:prstGeom prst="roundRect">
            <a:avLst>
              <a:gd name="adj" fmla="val 17021"/>
            </a:avLst>
          </a:prstGeom>
          <a:solidFill>
            <a:srgbClr val="F7E9E4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2098548" y="3511296"/>
            <a:ext cx="1216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12,048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415284" y="3520440"/>
            <a:ext cx="46542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3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 DUPLICATES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432304" y="4059936"/>
            <a:ext cx="5367528" cy="429768"/>
          </a:xfrm>
          <a:prstGeom prst="roundRect">
            <a:avLst>
              <a:gd name="adj" fmla="val 17021"/>
            </a:avLst>
          </a:prstGeom>
          <a:solidFill>
            <a:srgbClr val="F7E9E4"/>
          </a:solidFill>
          <a:ln w="12700">
            <a:solidFill>
              <a:srgbClr val="B84A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2542032" y="4087368"/>
            <a:ext cx="1216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B8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11,867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858768" y="4096512"/>
            <a:ext cx="37673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3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OFFENSIVE CONTENT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875788" y="4636008"/>
            <a:ext cx="4480560" cy="429768"/>
          </a:xfrm>
          <a:prstGeom prst="roundRect">
            <a:avLst>
              <a:gd name="adj" fmla="val 17021"/>
            </a:avLst>
          </a:prstGeom>
          <a:solidFill>
            <a:srgbClr val="EEE9F5"/>
          </a:solidFill>
          <a:ln w="12700">
            <a:solidFill>
              <a:srgbClr val="8566B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2985516" y="4663440"/>
            <a:ext cx="1216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8566B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11,430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302252" y="4672584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3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 3 USEFUL WORDS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25712" y="473659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−5,462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3319272" y="5212080"/>
            <a:ext cx="3593592" cy="429768"/>
          </a:xfrm>
          <a:prstGeom prst="roundRect">
            <a:avLst>
              <a:gd name="adj" fmla="val 17021"/>
            </a:avLst>
          </a:prstGeom>
          <a:solidFill>
            <a:srgbClr val="E9EDF0"/>
          </a:solidFill>
          <a:ln w="12700">
            <a:solidFill>
              <a:srgbClr val="1730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3429000" y="5239512"/>
            <a:ext cx="1216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5,968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4745736" y="5248656"/>
            <a:ext cx="19933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3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NEAR-DUPLICATES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857232" y="3749040"/>
            <a:ext cx="1737360" cy="1645920"/>
          </a:xfrm>
          <a:prstGeom prst="roundRect">
            <a:avLst>
              <a:gd name="adj" fmla="val 4444"/>
            </a:avLst>
          </a:prstGeom>
          <a:solidFill>
            <a:srgbClr val="173042"/>
          </a:solidFill>
          <a:ln w="12700">
            <a:solidFill>
              <a:srgbClr val="1730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10040112" y="39319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11.9%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10040112" y="43525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 raw tweets remained</a:t>
            </a:r>
            <a:endParaRPr lang="en-US" sz="960" dirty="0"/>
          </a:p>
        </p:txBody>
      </p:sp>
      <p:sp>
        <p:nvSpPr>
          <p:cNvPr id="30" name="Text 28"/>
          <p:cNvSpPr/>
          <p:nvPr/>
        </p:nvSpPr>
        <p:spPr>
          <a:xfrm>
            <a:off x="10012680" y="473659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D7E4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PREPROCESSING CHOICE</a:t>
            </a:r>
            <a:endParaRPr lang="en-US" sz="770" dirty="0"/>
          </a:p>
        </p:txBody>
      </p:sp>
      <p:sp>
        <p:nvSpPr>
          <p:cNvPr id="31" name="Text 29"/>
          <p:cNvSpPr/>
          <p:nvPr/>
        </p:nvSpPr>
        <p:spPr>
          <a:xfrm>
            <a:off x="9994392" y="496519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hashtags as signals.</a:t>
            </a:r>
            <a:endParaRPr lang="en-US" sz="810" dirty="0"/>
          </a:p>
          <a:p>
            <a:pPr marL="0" indent="0" algn="ctr">
              <a:buNone/>
            </a:pPr>
            <a:r>
              <a:rPr lang="en-US" sz="81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 URLs / @mentions.</a:t>
            </a:r>
            <a:endParaRPr lang="en-US" sz="810" dirty="0"/>
          </a:p>
          <a:p>
            <a:pPr marL="0" indent="0" algn="ctr">
              <a:buNone/>
            </a:pPr>
            <a:r>
              <a:rPr lang="en-US" sz="81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Lemmatise for readable topics.</a:t>
            </a:r>
            <a:endParaRPr lang="en-US" sz="810" dirty="0"/>
          </a:p>
        </p:txBody>
      </p:sp>
      <p:sp>
        <p:nvSpPr>
          <p:cNvPr id="33" name="Text 31"/>
          <p:cNvSpPr/>
          <p:nvPr/>
        </p:nvSpPr>
        <p:spPr>
          <a:xfrm>
            <a:off x="7406640" y="6428232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30" dirty="0">
                <a:solidFill>
                  <a:srgbClr val="7C84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Group 7 preprocessing output</a:t>
            </a:r>
            <a:endParaRPr lang="en-US" sz="73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· EXPLORATION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73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cleaned tweets look like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1225296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cleaned corpus still reads like crypto — but the repeated noise is reduced.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5715000" cy="4334256"/>
          </a:xfrm>
          <a:prstGeom prst="roundRect">
            <a:avLst>
              <a:gd name="adj" fmla="val 1688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768096" y="1901952"/>
            <a:ext cx="2103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6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FREQUENT WORDS</a:t>
            </a:r>
            <a:endParaRPr lang="en-US" sz="900" dirty="0"/>
          </a:p>
        </p:txBody>
      </p:sp>
      <p:pic>
        <p:nvPicPr>
          <p:cNvPr id="7" name="Image 0" descr="/mnt/data/ppt_assets/word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049" y="2212848"/>
            <a:ext cx="5049613" cy="28529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510528" y="1737360"/>
            <a:ext cx="5074920" cy="2029968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6720840" y="1901952"/>
            <a:ext cx="2148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MEANINGFUL BIGRAMS</a:t>
            </a:r>
            <a:endParaRPr lang="en-US" sz="900" dirty="0"/>
          </a:p>
        </p:txBody>
      </p:sp>
      <p:pic>
        <p:nvPicPr>
          <p:cNvPr id="10" name="Image 1" descr="/mnt/data/ppt_assets/bigram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0052" y="2212848"/>
            <a:ext cx="1946729" cy="135331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510528" y="3995928"/>
            <a:ext cx="5074920" cy="2075688"/>
          </a:xfrm>
          <a:prstGeom prst="roundRect">
            <a:avLst>
              <a:gd name="adj" fmla="val 3524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Text 8"/>
          <p:cNvSpPr/>
          <p:nvPr/>
        </p:nvSpPr>
        <p:spPr>
          <a:xfrm>
            <a:off x="6720840" y="4169664"/>
            <a:ext cx="2148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MEANINGFUL TRIGRAMS</a:t>
            </a:r>
            <a:endParaRPr lang="en-US" sz="900" dirty="0"/>
          </a:p>
        </p:txBody>
      </p:sp>
      <p:pic>
        <p:nvPicPr>
          <p:cNvPr id="13" name="Image 2" descr="/mnt/data/ppt_assets/trigram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0499" y="4462272"/>
            <a:ext cx="1945834" cy="13533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8096" y="5266944"/>
            <a:ext cx="5239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Bitcoin remains central; Ethereum, NFTs, trading, blockchain and promotion are visible in the vocabulary.</a:t>
            </a:r>
            <a:endParaRPr lang="en-US" sz="1040" dirty="0"/>
          </a:p>
        </p:txBody>
      </p:sp>
      <p:sp>
        <p:nvSpPr>
          <p:cNvPr id="15" name="Text 10"/>
          <p:cNvSpPr/>
          <p:nvPr/>
        </p:nvSpPr>
        <p:spPr>
          <a:xfrm>
            <a:off x="768096" y="5769864"/>
            <a:ext cx="5340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90" b="1" dirty="0">
                <a:solidFill>
                  <a:srgbClr val="173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“twitter facebook instagram” = 62×  ·  “btc ethereum blockchain” = 58×</a:t>
            </a:r>
            <a:endParaRPr lang="en-US" sz="890" dirty="0"/>
          </a:p>
        </p:txBody>
      </p:sp>
      <p:sp>
        <p:nvSpPr>
          <p:cNvPr id="17" name="Text 12"/>
          <p:cNvSpPr/>
          <p:nvPr/>
        </p:nvSpPr>
        <p:spPr>
          <a:xfrm>
            <a:off x="7406640" y="6428232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30" dirty="0">
                <a:solidFill>
                  <a:srgbClr val="7C84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Notebook visuals: word cloud + bigrams + trigrams</a:t>
            </a:r>
            <a:endParaRPr lang="en-US" sz="7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· REPRESENTATION + MODELLING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73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found the themes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1225296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numerical views of the same cleaned text were used to compare two topic-model families.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672084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04672" y="201168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CLEANED CORPUS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22960" y="2487168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E9F1F5"/>
          </a:solidFill>
          <a:ln w="12700">
            <a:solidFill>
              <a:srgbClr val="C8DD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987552" y="265176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6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COUNTVECTORIZER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87552" y="293522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word counts → LDA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703320" y="2487168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E8F4F0"/>
          </a:solidFill>
          <a:ln w="12700">
            <a:solidFill>
              <a:srgbClr val="C9E5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3840480" y="26517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TF–IDF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0" y="293522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distinctiveness → NMF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3822192"/>
            <a:ext cx="5440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3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 = 4   ·   5   ·   6   ·   7   ·   8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176272" y="4325112"/>
            <a:ext cx="1417320" cy="292608"/>
          </a:xfrm>
          <a:prstGeom prst="roundRect">
            <a:avLst>
              <a:gd name="adj" fmla="val 18750"/>
            </a:avLst>
          </a:prstGeom>
          <a:solidFill>
            <a:srgbClr val="E9F1F5"/>
          </a:solidFill>
          <a:ln w="12700">
            <a:solidFill>
              <a:srgbClr val="E9F1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2249424" y="4334256"/>
            <a:ext cx="12710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6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model sizes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785616" y="4325112"/>
            <a:ext cx="1261872" cy="292608"/>
          </a:xfrm>
          <a:prstGeom prst="roundRect">
            <a:avLst>
              <a:gd name="adj" fmla="val 18750"/>
            </a:avLst>
          </a:prstGeom>
          <a:solidFill>
            <a:srgbClr val="E8F4F0"/>
          </a:solidFill>
          <a:ln w="12700">
            <a:solidFill>
              <a:srgbClr val="E8F4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3858768" y="4334256"/>
            <a:ext cx="11155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methods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516368" y="1828800"/>
            <a:ext cx="4069080" cy="3611880"/>
          </a:xfrm>
          <a:prstGeom prst="roundRect">
            <a:avLst>
              <a:gd name="adj" fmla="val 2025"/>
            </a:avLst>
          </a:prstGeom>
          <a:solidFill>
            <a:srgbClr val="173042"/>
          </a:solidFill>
          <a:ln w="12700">
            <a:solidFill>
              <a:srgbClr val="1730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7772400" y="2057400"/>
            <a:ext cx="3383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7E4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WE JUDGED THEM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72400" y="254203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9A4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11312" y="2523744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Coherence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211312" y="2834640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D8E4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the top words occur together?</a:t>
            </a:r>
            <a:endParaRPr lang="en-US" sz="940" dirty="0"/>
          </a:p>
        </p:txBody>
      </p:sp>
      <p:sp>
        <p:nvSpPr>
          <p:cNvPr id="23" name="Text 21"/>
          <p:cNvSpPr/>
          <p:nvPr/>
        </p:nvSpPr>
        <p:spPr>
          <a:xfrm>
            <a:off x="7772400" y="338328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9A4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11312" y="3364992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Diversity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211312" y="3675888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D8E4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 topic word lists actually different?</a:t>
            </a:r>
            <a:endParaRPr lang="en-US" sz="940" dirty="0"/>
          </a:p>
        </p:txBody>
      </p:sp>
      <p:sp>
        <p:nvSpPr>
          <p:cNvPr id="26" name="Text 24"/>
          <p:cNvSpPr/>
          <p:nvPr/>
        </p:nvSpPr>
        <p:spPr>
          <a:xfrm>
            <a:off x="7772400" y="4224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9A4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11312" y="4206240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 interpretability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211312" y="4517136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D8E4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a person name the theme clearly?</a:t>
            </a:r>
            <a:endParaRPr lang="en-US" sz="940" dirty="0"/>
          </a:p>
        </p:txBody>
      </p:sp>
      <p:sp>
        <p:nvSpPr>
          <p:cNvPr id="29" name="Text 27"/>
          <p:cNvSpPr/>
          <p:nvPr/>
        </p:nvSpPr>
        <p:spPr>
          <a:xfrm>
            <a:off x="7772400" y="502920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Seed = 42 for the model comparison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7406640" y="6428232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30" dirty="0">
                <a:solidFill>
                  <a:srgbClr val="7C84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Group 7 notebook methodology</a:t>
            </a:r>
            <a:endParaRPr lang="en-US" sz="73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· MODEL COMPARISON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73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method we trusted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1225296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NMF produced clearer, more distinct and much more stable topic assignments than LDA.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1719072"/>
            <a:ext cx="667512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6" name="Image 0" descr="/mnt/data/ppt_assets/model_qua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424832"/>
            <a:ext cx="6309360" cy="23832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79792" y="1719072"/>
            <a:ext cx="4105656" cy="3749040"/>
          </a:xfrm>
          <a:prstGeom prst="roundRect">
            <a:avLst>
              <a:gd name="adj" fmla="val 1951"/>
            </a:avLst>
          </a:prstGeom>
          <a:solidFill>
            <a:srgbClr val="E8F4F0"/>
          </a:solidFill>
          <a:ln w="12700">
            <a:solidFill>
              <a:srgbClr val="CBE6D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7744968" y="194767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CHOICE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744968" y="228600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3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NMF · k = 6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7744968" y="288950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E6F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0.458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833104" y="290779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NPMI coherence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744968" y="341071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E6F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0.95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833104" y="3429000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topic diversity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744968" y="39319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E6F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39.5%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833104" y="3950208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largest topic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744968" y="445312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E6F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0.90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833104" y="4471416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agreement on re-run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744968" y="4901184"/>
            <a:ext cx="3236976" cy="338328"/>
          </a:xfrm>
          <a:prstGeom prst="roundRect">
            <a:avLst>
              <a:gd name="adj" fmla="val 21622"/>
            </a:avLst>
          </a:prstGeom>
          <a:solidFill>
            <a:srgbClr val="FFFFFF"/>
          </a:solidFill>
          <a:ln w="12700">
            <a:solidFill>
              <a:srgbClr val="D8E6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7845552" y="494690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NMF k=4/5 excluded: 67.5% / 66.4% in one topic</a:t>
            </a:r>
            <a:endParaRPr lang="en-US" sz="820" dirty="0"/>
          </a:p>
        </p:txBody>
      </p:sp>
      <p:sp>
        <p:nvSpPr>
          <p:cNvPr id="20" name="Text 17"/>
          <p:cNvSpPr/>
          <p:nvPr/>
        </p:nvSpPr>
        <p:spPr>
          <a:xfrm>
            <a:off x="7744968" y="531266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173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Stability: agreement 0.90 vs 0.12</a:t>
            </a:r>
            <a:endParaRPr lang="en-US" sz="960" dirty="0"/>
          </a:p>
        </p:txBody>
      </p:sp>
      <p:sp>
        <p:nvSpPr>
          <p:cNvPr id="21" name="Text 18"/>
          <p:cNvSpPr/>
          <p:nvPr/>
        </p:nvSpPr>
        <p:spPr>
          <a:xfrm>
            <a:off x="7726680" y="5504688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score shown = value currently entered in the notebook.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7406640" y="6428232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30" dirty="0">
                <a:solidFill>
                  <a:srgbClr val="7C84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Notebook visual: coherence + diversity by k</a:t>
            </a:r>
            <a:endParaRPr lang="en-US" sz="7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· RESULTS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73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six themes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1225296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labels below are our human interpretation of the model’s keyword patterns and examples.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1709928"/>
            <a:ext cx="5120640" cy="4096512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6" name="Image 0" descr="/mnt/data/ppt_assets/topic_sh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2426700"/>
            <a:ext cx="4709160" cy="25715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80176" y="1792224"/>
            <a:ext cx="2505456" cy="1078992"/>
          </a:xfrm>
          <a:prstGeom prst="roundRect">
            <a:avLst>
              <a:gd name="adj" fmla="val 6780"/>
            </a:avLst>
          </a:prstGeom>
          <a:solidFill>
            <a:srgbClr val="E9F1F5"/>
          </a:solidFill>
          <a:ln w="12700">
            <a:solidFill>
              <a:srgbClr val="D9D5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6126480" y="1920240"/>
            <a:ext cx="786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73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39.5%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126480" y="232257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30" b="1" dirty="0">
                <a:solidFill>
                  <a:srgbClr val="173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General crypto and Ethereum/NFT news</a:t>
            </a:r>
            <a:endParaRPr lang="en-US" sz="930" dirty="0"/>
          </a:p>
        </p:txBody>
      </p:sp>
      <p:sp>
        <p:nvSpPr>
          <p:cNvPr id="10" name="Shape 7"/>
          <p:cNvSpPr/>
          <p:nvPr/>
        </p:nvSpPr>
        <p:spPr>
          <a:xfrm>
            <a:off x="8750808" y="1792224"/>
            <a:ext cx="2505456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8897112" y="1920240"/>
            <a:ext cx="786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E6F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33.3%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8897112" y="232257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30" b="1" dirty="0">
                <a:solidFill>
                  <a:srgbClr val="173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Coin prices and trading signals</a:t>
            </a:r>
            <a:endParaRPr lang="en-US" sz="930" dirty="0"/>
          </a:p>
        </p:txBody>
      </p:sp>
      <p:sp>
        <p:nvSpPr>
          <p:cNvPr id="13" name="Shape 10"/>
          <p:cNvSpPr/>
          <p:nvPr/>
        </p:nvSpPr>
        <p:spPr>
          <a:xfrm>
            <a:off x="5980176" y="3108960"/>
            <a:ext cx="2505456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6126480" y="3236976"/>
            <a:ext cx="786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8566B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15.0%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6126480" y="363931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30" b="1" dirty="0">
                <a:solidFill>
                  <a:srgbClr val="173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Airdrops and project promotion</a:t>
            </a:r>
            <a:endParaRPr lang="en-US" sz="930" dirty="0"/>
          </a:p>
        </p:txBody>
      </p:sp>
      <p:sp>
        <p:nvSpPr>
          <p:cNvPr id="16" name="Shape 13"/>
          <p:cNvSpPr/>
          <p:nvPr/>
        </p:nvSpPr>
        <p:spPr>
          <a:xfrm>
            <a:off x="8750808" y="3108960"/>
            <a:ext cx="2505456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8897112" y="3236976"/>
            <a:ext cx="786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4.9%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8897112" y="363931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30" b="1" dirty="0">
                <a:solidFill>
                  <a:srgbClr val="173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Automated market sentiment posts</a:t>
            </a:r>
            <a:endParaRPr lang="en-US" sz="930" dirty="0"/>
          </a:p>
        </p:txBody>
      </p:sp>
      <p:sp>
        <p:nvSpPr>
          <p:cNvPr id="19" name="Shape 16"/>
          <p:cNvSpPr/>
          <p:nvPr/>
        </p:nvSpPr>
        <p:spPr>
          <a:xfrm>
            <a:off x="5980176" y="4425696"/>
            <a:ext cx="2505456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6126480" y="4553712"/>
            <a:ext cx="786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B8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3.8%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6126480" y="495604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30" b="1" dirty="0">
                <a:solidFill>
                  <a:srgbClr val="173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CoinHuntWorld game promotion</a:t>
            </a:r>
            <a:endParaRPr lang="en-US" sz="930" dirty="0"/>
          </a:p>
        </p:txBody>
      </p:sp>
      <p:sp>
        <p:nvSpPr>
          <p:cNvPr id="22" name="Shape 19"/>
          <p:cNvSpPr/>
          <p:nvPr/>
        </p:nvSpPr>
        <p:spPr>
          <a:xfrm>
            <a:off x="8750808" y="4425696"/>
            <a:ext cx="2505456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0"/>
          <p:cNvSpPr/>
          <p:nvPr/>
        </p:nvSpPr>
        <p:spPr>
          <a:xfrm>
            <a:off x="8897112" y="4553712"/>
            <a:ext cx="786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3.5%</a:t>
            </a:r>
            <a:endParaRPr lang="en-US" sz="1900" dirty="0"/>
          </a:p>
        </p:txBody>
      </p:sp>
      <p:sp>
        <p:nvSpPr>
          <p:cNvPr id="24" name="Text 21"/>
          <p:cNvSpPr/>
          <p:nvPr/>
        </p:nvSpPr>
        <p:spPr>
          <a:xfrm>
            <a:off x="8897112" y="495604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30" b="1" dirty="0">
                <a:solidFill>
                  <a:srgbClr val="173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Promotions and affiliate marketing</a:t>
            </a:r>
            <a:endParaRPr lang="en-US" sz="930" dirty="0"/>
          </a:p>
        </p:txBody>
      </p:sp>
      <p:sp>
        <p:nvSpPr>
          <p:cNvPr id="25" name="Text 22"/>
          <p:cNvSpPr/>
          <p:nvPr/>
        </p:nvSpPr>
        <p:spPr>
          <a:xfrm>
            <a:off x="5998464" y="582472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 picture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931152" y="5760720"/>
            <a:ext cx="4407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173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About 73% of modelled tweets sit in two broad themes: wider crypto news and prices/trading.</a:t>
            </a:r>
            <a:endParaRPr lang="en-US" sz="940" dirty="0"/>
          </a:p>
        </p:txBody>
      </p:sp>
      <p:sp>
        <p:nvSpPr>
          <p:cNvPr id="28" name="Text 25"/>
          <p:cNvSpPr/>
          <p:nvPr/>
        </p:nvSpPr>
        <p:spPr>
          <a:xfrm>
            <a:off x="7406640" y="6428232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30" dirty="0">
                <a:solidFill>
                  <a:srgbClr val="7C84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Notebook visual: share of modelled tweets by dominant topic</a:t>
            </a:r>
            <a:endParaRPr lang="en-US" sz="73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· TIME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73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evening unfolded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1225296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timestamps are UTC. The first and last hours are partial; the topic chart shown is 17:00–21:00 from the notebook output.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1700784"/>
            <a:ext cx="6876288" cy="4242816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6" name="Image 0" descr="/mnt/data/ppt_assets/hourly_top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181003"/>
            <a:ext cx="6510528" cy="322751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80960" y="1700784"/>
            <a:ext cx="3904488" cy="4242816"/>
          </a:xfrm>
          <a:prstGeom prst="roundRect">
            <a:avLst>
              <a:gd name="adj" fmla="val 1874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7927848" y="19476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CHANGED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927848" y="2423160"/>
            <a:ext cx="10789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173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NEWS</a:t>
            </a:r>
            <a:endParaRPr lang="en-US" sz="860" dirty="0"/>
          </a:p>
        </p:txBody>
      </p:sp>
      <p:sp>
        <p:nvSpPr>
          <p:cNvPr id="10" name="Text 7"/>
          <p:cNvSpPr/>
          <p:nvPr/>
        </p:nvSpPr>
        <p:spPr>
          <a:xfrm>
            <a:off x="9070848" y="2414016"/>
            <a:ext cx="2048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73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stays the steady backdrop</a:t>
            </a:r>
            <a:endParaRPr lang="en-US" sz="920" dirty="0"/>
          </a:p>
        </p:txBody>
      </p:sp>
      <p:sp>
        <p:nvSpPr>
          <p:cNvPr id="11" name="Text 8"/>
          <p:cNvSpPr/>
          <p:nvPr/>
        </p:nvSpPr>
        <p:spPr>
          <a:xfrm>
            <a:off x="7927848" y="3044952"/>
            <a:ext cx="10789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2E6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PRICE / TRADING</a:t>
            </a:r>
            <a:endParaRPr lang="en-US" sz="860" dirty="0"/>
          </a:p>
        </p:txBody>
      </p:sp>
      <p:sp>
        <p:nvSpPr>
          <p:cNvPr id="12" name="Text 9"/>
          <p:cNvSpPr/>
          <p:nvPr/>
        </p:nvSpPr>
        <p:spPr>
          <a:xfrm>
            <a:off x="9070848" y="3035808"/>
            <a:ext cx="2048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73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rises overall; peaks at 20:00</a:t>
            </a:r>
            <a:endParaRPr lang="en-US" sz="920" dirty="0"/>
          </a:p>
        </p:txBody>
      </p:sp>
      <p:sp>
        <p:nvSpPr>
          <p:cNvPr id="13" name="Text 10"/>
          <p:cNvSpPr/>
          <p:nvPr/>
        </p:nvSpPr>
        <p:spPr>
          <a:xfrm>
            <a:off x="7927848" y="3666744"/>
            <a:ext cx="10789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8566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AIRDROPS</a:t>
            </a:r>
            <a:endParaRPr lang="en-US" sz="860" dirty="0"/>
          </a:p>
        </p:txBody>
      </p:sp>
      <p:sp>
        <p:nvSpPr>
          <p:cNvPr id="14" name="Text 11"/>
          <p:cNvSpPr/>
          <p:nvPr/>
        </p:nvSpPr>
        <p:spPr>
          <a:xfrm>
            <a:off x="9070848" y="3657600"/>
            <a:ext cx="2048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73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generally loses share</a:t>
            </a:r>
            <a:endParaRPr lang="en-US" sz="920" dirty="0"/>
          </a:p>
        </p:txBody>
      </p:sp>
      <p:sp>
        <p:nvSpPr>
          <p:cNvPr id="15" name="Text 12"/>
          <p:cNvSpPr/>
          <p:nvPr/>
        </p:nvSpPr>
        <p:spPr>
          <a:xfrm>
            <a:off x="7927848" y="4288536"/>
            <a:ext cx="10789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AUTOMATION</a:t>
            </a:r>
            <a:endParaRPr lang="en-US" sz="860" dirty="0"/>
          </a:p>
        </p:txBody>
      </p:sp>
      <p:sp>
        <p:nvSpPr>
          <p:cNvPr id="16" name="Text 13"/>
          <p:cNvSpPr/>
          <p:nvPr/>
        </p:nvSpPr>
        <p:spPr>
          <a:xfrm>
            <a:off x="9070848" y="4279392"/>
            <a:ext cx="2048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73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spikes at 18:00, then drops back</a:t>
            </a:r>
            <a:endParaRPr lang="en-US" sz="920" dirty="0"/>
          </a:p>
        </p:txBody>
      </p:sp>
      <p:sp>
        <p:nvSpPr>
          <p:cNvPr id="17" name="Text 14"/>
          <p:cNvSpPr/>
          <p:nvPr/>
        </p:nvSpPr>
        <p:spPr>
          <a:xfrm>
            <a:off x="7927848" y="4910328"/>
            <a:ext cx="10789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AFFILIATE</a:t>
            </a:r>
            <a:endParaRPr lang="en-US" sz="860" dirty="0"/>
          </a:p>
        </p:txBody>
      </p:sp>
      <p:sp>
        <p:nvSpPr>
          <p:cNvPr id="18" name="Text 15"/>
          <p:cNvSpPr/>
          <p:nvPr/>
        </p:nvSpPr>
        <p:spPr>
          <a:xfrm>
            <a:off x="9070848" y="4901184"/>
            <a:ext cx="2048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73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small, but rises to 4.5% at 21:00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7927848" y="5468112"/>
            <a:ext cx="3163824" cy="365760"/>
          </a:xfrm>
          <a:prstGeom prst="roundRect">
            <a:avLst>
              <a:gd name="adj" fmla="val 20000"/>
            </a:avLst>
          </a:prstGeom>
          <a:solidFill>
            <a:srgbClr val="E9F1F5"/>
          </a:solidFill>
          <a:ln w="12700">
            <a:solidFill>
              <a:srgbClr val="CEDD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8028432" y="5559552"/>
            <a:ext cx="2953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2E6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18:00 UTC = 1,155 tweets · peak hour</a:t>
            </a:r>
            <a:endParaRPr lang="en-US" sz="840" dirty="0"/>
          </a:p>
        </p:txBody>
      </p:sp>
      <p:sp>
        <p:nvSpPr>
          <p:cNvPr id="22" name="Text 19"/>
          <p:cNvSpPr/>
          <p:nvPr/>
        </p:nvSpPr>
        <p:spPr>
          <a:xfrm>
            <a:off x="7406640" y="6428232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30" dirty="0">
                <a:solidFill>
                  <a:srgbClr val="7C84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Notebook visual: hourly topic prevalence</a:t>
            </a:r>
            <a:endParaRPr lang="en-US" sz="7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· BUSINESS INSIGHTS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73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takeaways for business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1225296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takeaway separates what the model shows from what that pattern may mean.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5257800" cy="1755648"/>
          </a:xfrm>
          <a:prstGeom prst="roundRect">
            <a:avLst>
              <a:gd name="adj" fmla="val 4167"/>
            </a:avLst>
          </a:prstGeom>
          <a:solidFill>
            <a:srgbClr val="E9F1F5"/>
          </a:solidFill>
          <a:ln w="12700">
            <a:solidFill>
              <a:srgbClr val="D9D5CC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749808" y="1901952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73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316736" y="1856232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73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Broad crypto news dominates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16736" y="239572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70" b="1" dirty="0">
                <a:solidFill>
                  <a:srgbClr val="173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MODEL SHOWS</a:t>
            </a:r>
            <a:endParaRPr lang="en-US" sz="770" dirty="0"/>
          </a:p>
        </p:txBody>
      </p:sp>
      <p:sp>
        <p:nvSpPr>
          <p:cNvPr id="9" name="Text 7"/>
          <p:cNvSpPr/>
          <p:nvPr/>
        </p:nvSpPr>
        <p:spPr>
          <a:xfrm>
            <a:off x="1316736" y="260604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173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39.5% of modelled tweets.</a:t>
            </a:r>
            <a:endParaRPr lang="en-US" sz="970" dirty="0"/>
          </a:p>
        </p:txBody>
      </p:sp>
      <p:sp>
        <p:nvSpPr>
          <p:cNvPr id="10" name="Text 8"/>
          <p:cNvSpPr/>
          <p:nvPr/>
        </p:nvSpPr>
        <p:spPr>
          <a:xfrm>
            <a:off x="1316736" y="300837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70" b="1" dirty="0">
                <a:solidFill>
                  <a:srgbClr val="173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IT MAY MEAN</a:t>
            </a:r>
            <a:endParaRPr lang="en-US" sz="770" dirty="0"/>
          </a:p>
        </p:txBody>
      </p:sp>
      <p:sp>
        <p:nvSpPr>
          <p:cNvPr id="11" name="Text 9"/>
          <p:cNvSpPr/>
          <p:nvPr/>
        </p:nvSpPr>
        <p:spPr>
          <a:xfrm>
            <a:off x="1316736" y="3191256"/>
            <a:ext cx="4069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9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 the wider ecosystem, not Bitcoin alone.</a:t>
            </a:r>
            <a:endParaRPr lang="en-US" sz="890" dirty="0"/>
          </a:p>
        </p:txBody>
      </p:sp>
      <p:sp>
        <p:nvSpPr>
          <p:cNvPr id="12" name="Shape 10"/>
          <p:cNvSpPr/>
          <p:nvPr/>
        </p:nvSpPr>
        <p:spPr>
          <a:xfrm>
            <a:off x="6163056" y="1737360"/>
            <a:ext cx="5257800" cy="1755648"/>
          </a:xfrm>
          <a:prstGeom prst="roundRect">
            <a:avLst>
              <a:gd name="adj" fmla="val 4167"/>
            </a:avLst>
          </a:prstGeom>
          <a:solidFill>
            <a:srgbClr val="E9F1F5"/>
          </a:solidFill>
          <a:ln w="12700">
            <a:solidFill>
              <a:srgbClr val="D9D5CC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345936" y="1901952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6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12864" y="1856232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73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Price and trading gains share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912864" y="239572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70" b="1" dirty="0">
                <a:solidFill>
                  <a:srgbClr val="2E6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MODEL SHOWS</a:t>
            </a:r>
            <a:endParaRPr lang="en-US" sz="770" dirty="0"/>
          </a:p>
        </p:txBody>
      </p:sp>
      <p:sp>
        <p:nvSpPr>
          <p:cNvPr id="16" name="Text 14"/>
          <p:cNvSpPr/>
          <p:nvPr/>
        </p:nvSpPr>
        <p:spPr>
          <a:xfrm>
            <a:off x="6912864" y="260604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173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31.0% → 34.8% from 17:00 to 21:00; peak 37.0% at 20:00.</a:t>
            </a:r>
            <a:endParaRPr lang="en-US" sz="970" dirty="0"/>
          </a:p>
        </p:txBody>
      </p:sp>
      <p:sp>
        <p:nvSpPr>
          <p:cNvPr id="17" name="Text 15"/>
          <p:cNvSpPr/>
          <p:nvPr/>
        </p:nvSpPr>
        <p:spPr>
          <a:xfrm>
            <a:off x="6912864" y="300837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70" b="1" dirty="0">
                <a:solidFill>
                  <a:srgbClr val="2E6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IT MAY MEAN</a:t>
            </a:r>
            <a:endParaRPr lang="en-US" sz="770" dirty="0"/>
          </a:p>
        </p:txBody>
      </p:sp>
      <p:sp>
        <p:nvSpPr>
          <p:cNvPr id="18" name="Text 16"/>
          <p:cNvSpPr/>
          <p:nvPr/>
        </p:nvSpPr>
        <p:spPr>
          <a:xfrm>
            <a:off x="6912864" y="3191256"/>
            <a:ext cx="4069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9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Market-monitoring content became relatively more prominent.</a:t>
            </a:r>
            <a:endParaRPr lang="en-US" sz="890" dirty="0"/>
          </a:p>
        </p:txBody>
      </p:sp>
      <p:sp>
        <p:nvSpPr>
          <p:cNvPr id="19" name="Shape 17"/>
          <p:cNvSpPr/>
          <p:nvPr/>
        </p:nvSpPr>
        <p:spPr>
          <a:xfrm>
            <a:off x="566928" y="3794760"/>
            <a:ext cx="5257800" cy="1755648"/>
          </a:xfrm>
          <a:prstGeom prst="roundRect">
            <a:avLst>
              <a:gd name="adj" fmla="val 4167"/>
            </a:avLst>
          </a:prstGeom>
          <a:solidFill>
            <a:srgbClr val="EEE9F5"/>
          </a:solidFill>
          <a:ln w="12700">
            <a:solidFill>
              <a:srgbClr val="D9D5CC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749808" y="3959352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566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316736" y="3913632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73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Airdrop promotion fades overall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316736" y="445312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70" b="1" dirty="0">
                <a:solidFill>
                  <a:srgbClr val="8566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MODEL SHOWS</a:t>
            </a:r>
            <a:endParaRPr lang="en-US" sz="770" dirty="0"/>
          </a:p>
        </p:txBody>
      </p:sp>
      <p:sp>
        <p:nvSpPr>
          <p:cNvPr id="23" name="Text 21"/>
          <p:cNvSpPr/>
          <p:nvPr/>
        </p:nvSpPr>
        <p:spPr>
          <a:xfrm>
            <a:off x="1316736" y="466344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173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18.8% → 15.9%, with a low of 12.3% at 20:00.</a:t>
            </a:r>
            <a:endParaRPr lang="en-US" sz="970" dirty="0"/>
          </a:p>
        </p:txBody>
      </p:sp>
      <p:sp>
        <p:nvSpPr>
          <p:cNvPr id="24" name="Text 22"/>
          <p:cNvSpPr/>
          <p:nvPr/>
        </p:nvSpPr>
        <p:spPr>
          <a:xfrm>
            <a:off x="1316736" y="506577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70" b="1" dirty="0">
                <a:solidFill>
                  <a:srgbClr val="8566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IT MAY MEAN</a:t>
            </a:r>
            <a:endParaRPr lang="en-US" sz="770" dirty="0"/>
          </a:p>
        </p:txBody>
      </p:sp>
      <p:sp>
        <p:nvSpPr>
          <p:cNvPr id="25" name="Text 23"/>
          <p:cNvSpPr/>
          <p:nvPr/>
        </p:nvSpPr>
        <p:spPr>
          <a:xfrm>
            <a:off x="1316736" y="5248656"/>
            <a:ext cx="4069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9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Promotional content competes with other themes as attention shifts.</a:t>
            </a:r>
            <a:endParaRPr lang="en-US" sz="890" dirty="0"/>
          </a:p>
        </p:txBody>
      </p:sp>
      <p:sp>
        <p:nvSpPr>
          <p:cNvPr id="26" name="Shape 24"/>
          <p:cNvSpPr/>
          <p:nvPr/>
        </p:nvSpPr>
        <p:spPr>
          <a:xfrm>
            <a:off x="6163056" y="3794760"/>
            <a:ext cx="5257800" cy="1755648"/>
          </a:xfrm>
          <a:prstGeom prst="roundRect">
            <a:avLst>
              <a:gd name="adj" fmla="val 4167"/>
            </a:avLst>
          </a:prstGeom>
          <a:solidFill>
            <a:srgbClr val="F7E9E4"/>
          </a:solidFill>
          <a:ln w="12700">
            <a:solidFill>
              <a:srgbClr val="D9D5CC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6345936" y="3959352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912864" y="3913632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73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Automation arrives in bursts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912864" y="445312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7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MODEL SHOWS</a:t>
            </a:r>
            <a:endParaRPr lang="en-US" sz="770" dirty="0"/>
          </a:p>
        </p:txBody>
      </p:sp>
      <p:sp>
        <p:nvSpPr>
          <p:cNvPr id="30" name="Text 28"/>
          <p:cNvSpPr/>
          <p:nvPr/>
        </p:nvSpPr>
        <p:spPr>
          <a:xfrm>
            <a:off x="6912864" y="466344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173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3.9% → 13.4% at 18:00, then back to ~2–3.5%.</a:t>
            </a:r>
            <a:endParaRPr lang="en-US" sz="970" dirty="0"/>
          </a:p>
        </p:txBody>
      </p:sp>
      <p:sp>
        <p:nvSpPr>
          <p:cNvPr id="31" name="Text 29"/>
          <p:cNvSpPr/>
          <p:nvPr/>
        </p:nvSpPr>
        <p:spPr>
          <a:xfrm>
            <a:off x="6912864" y="506577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7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IT MAY MEAN</a:t>
            </a:r>
            <a:endParaRPr lang="en-US" sz="770" dirty="0"/>
          </a:p>
        </p:txBody>
      </p:sp>
      <p:sp>
        <p:nvSpPr>
          <p:cNvPr id="32" name="Text 30"/>
          <p:cNvSpPr/>
          <p:nvPr/>
        </p:nvSpPr>
        <p:spPr>
          <a:xfrm>
            <a:off x="6912864" y="5248656"/>
            <a:ext cx="4069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9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Down-weight or filter bursts before interpreting “crowd sentiment”.</a:t>
            </a:r>
            <a:endParaRPr lang="en-US" sz="890" dirty="0"/>
          </a:p>
        </p:txBody>
      </p:sp>
      <p:sp>
        <p:nvSpPr>
          <p:cNvPr id="34" name="Text 32"/>
          <p:cNvSpPr/>
          <p:nvPr/>
        </p:nvSpPr>
        <p:spPr>
          <a:xfrm>
            <a:off x="7406640" y="6428232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30" dirty="0">
                <a:solidFill>
                  <a:srgbClr val="7C84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Group 7 topic prevalence analysis</a:t>
            </a:r>
            <a:endParaRPr lang="en-US" sz="73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· LIMITS + NEXT STEPS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73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Limits and next steps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1225296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findings — but the evidence is bounded by the corpus, the cleaning choices and the current notebook state.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1755648"/>
            <a:ext cx="5230368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22960" y="19842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" y="2468880"/>
            <a:ext cx="4443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73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One short evening only — this is not a general Bitcoin-time pattern.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841248" y="3172968"/>
            <a:ext cx="4443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73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Topics 1–4 include repeated, templated or promotional language.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841248" y="3877056"/>
            <a:ext cx="4443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73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High NMF coherence/stability may partly reflect repeated wording.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841248" y="4581144"/>
            <a:ext cx="4443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73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model shows what was posted, not what people think.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6080760" y="1755648"/>
            <a:ext cx="5504688" cy="3977640"/>
          </a:xfrm>
          <a:prstGeom prst="roundRect">
            <a:avLst>
              <a:gd name="adj" fmla="val 1839"/>
            </a:avLst>
          </a:prstGeom>
          <a:solidFill>
            <a:srgbClr val="E8F4F0"/>
          </a:solidFill>
          <a:ln w="12700">
            <a:solidFill>
              <a:srgbClr val="CBE6DE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6345936" y="19842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355080" y="248716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355080" y="320040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55080" y="391363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355080" y="462686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85432" y="2432304"/>
            <a:ext cx="4160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90" dirty="0">
                <a:solidFill>
                  <a:srgbClr val="173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notebook placeholder human scores with real group-average ratings.</a:t>
            </a:r>
            <a:endParaRPr lang="en-US" sz="1090" dirty="0"/>
          </a:p>
        </p:txBody>
      </p:sp>
      <p:sp>
        <p:nvSpPr>
          <p:cNvPr id="18" name="Text 16"/>
          <p:cNvSpPr/>
          <p:nvPr/>
        </p:nvSpPr>
        <p:spPr>
          <a:xfrm>
            <a:off x="6885432" y="3145536"/>
            <a:ext cx="4160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90" dirty="0">
                <a:solidFill>
                  <a:srgbClr val="173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 the required topic_assignments.csv before submission.</a:t>
            </a:r>
            <a:endParaRPr lang="en-US" sz="1090" dirty="0"/>
          </a:p>
        </p:txBody>
      </p:sp>
      <p:sp>
        <p:nvSpPr>
          <p:cNvPr id="19" name="Text 17"/>
          <p:cNvSpPr/>
          <p:nvPr/>
        </p:nvSpPr>
        <p:spPr>
          <a:xfrm>
            <a:off x="6885432" y="3858768"/>
            <a:ext cx="4160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90" dirty="0">
                <a:solidFill>
                  <a:srgbClr val="173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the full hourly output and update the discussion if more hours are retained.</a:t>
            </a:r>
            <a:endParaRPr lang="en-US" sz="1090" dirty="0"/>
          </a:p>
        </p:txBody>
      </p:sp>
      <p:sp>
        <p:nvSpPr>
          <p:cNvPr id="20" name="Text 18"/>
          <p:cNvSpPr/>
          <p:nvPr/>
        </p:nvSpPr>
        <p:spPr>
          <a:xfrm>
            <a:off x="6885432" y="4572000"/>
            <a:ext cx="4160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90" dirty="0">
                <a:solidFill>
                  <a:srgbClr val="173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on a longer time window to see whether the six-theme picture persists.</a:t>
            </a:r>
            <a:endParaRPr lang="en-US" sz="1090" dirty="0"/>
          </a:p>
        </p:txBody>
      </p:sp>
      <p:sp>
        <p:nvSpPr>
          <p:cNvPr id="21" name="Text 19"/>
          <p:cNvSpPr/>
          <p:nvPr/>
        </p:nvSpPr>
        <p:spPr>
          <a:xfrm>
            <a:off x="566928" y="591616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BOTTOM LINE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609344" y="5843016"/>
            <a:ext cx="9235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30" b="1" dirty="0">
                <a:solidFill>
                  <a:srgbClr val="173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six-theme picture emerged: broad crypto news + price/trading were the largest themes, alongside distinct promotional and automated bursts.</a:t>
            </a:r>
            <a:endParaRPr lang="en-US" sz="1430" dirty="0"/>
          </a:p>
        </p:txBody>
      </p:sp>
      <p:sp>
        <p:nvSpPr>
          <p:cNvPr id="24" name="Text 22"/>
          <p:cNvSpPr/>
          <p:nvPr/>
        </p:nvSpPr>
        <p:spPr>
          <a:xfrm>
            <a:off x="7406640" y="6428232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30" dirty="0">
                <a:solidFill>
                  <a:srgbClr val="7C84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Group 7 notebook + fix list</a:t>
            </a:r>
            <a:endParaRPr lang="en-US" sz="7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1552</Words>
  <Application>Microsoft Office PowerPoint</Application>
  <PresentationFormat>Widescreen</PresentationFormat>
  <Paragraphs>236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of the Free State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Modelling of Bitcoin Tweets</dc:title>
  <dc:subject>EDAB2724 Assignment 3</dc:subject>
  <dc:creator>Group 7</dc:creator>
  <cp:lastModifiedBy>Ashley Hlatshwayo</cp:lastModifiedBy>
  <cp:revision>3</cp:revision>
  <dcterms:created xsi:type="dcterms:W3CDTF">2026-10-05T17:59:30Z</dcterms:created>
  <dcterms:modified xsi:type="dcterms:W3CDTF">2026-10-06T09:38:48Z</dcterms:modified>
</cp:coreProperties>
</file>